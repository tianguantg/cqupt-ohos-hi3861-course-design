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硬件综合设计开发》课程。这门课程是计算机专业的核心实践课，旨在通过一系列挑战性的综合设计训练，将大家在嵌入式系统、鸿蒙操作系统等先修课程中学到的理论知识，转化为解决实际工程问题的能力。本课程将带领大家深入硬件开发的世界，体验从设计到实现的全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六个部分。首先，我们将介绍课程的整体概述与目标，包括其战略价值和OBE教学模式。接着，会详细讲解三个可选的技术方向。然后，我们会介绍课程的具体安排和实施流程。第四部分将深入每个课次的学习重点。第五部分将重点阐述课程思政的融入要点。最后，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课程的定位与战略价值。这门课不仅是知识的综合运用，更是连接理论与实践的桥梁。从国家战略层面看，我们所学的嵌入式、物联网等技术，正是国家大力发展的方向。通过本课程的学习，大家不仅能掌握技能，更能深刻理解个人发展与国家需求的紧密联系，将个人理想融入到科技强国的伟大事业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教学模式是OBE，也就是基于学习产出的教育模式。这意味着，我们关注的是大家最终能学到什么、能做什么，而不是老师教了什么。整个课程将由一系列挑战性的项目驱动，大家需要主动参与，通过亲手完成一个完整的硬件项目，来综合展示你们的各项能力，并在此过程中培养职业素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核心目标是培养大家的四大能力：工程实践能力，让你能把想法变成现实；团队协作能力，让你学会在团队中高效工作；自主创新与解决问题能力，让你面对挑战时能独立思考；以及职业素养与家国情怀，让你成为一名有担当、有理想的工程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核心目标被分解为五个具体的、可衡量的能力要求，包括系统设计、创新设计、信息检索与测试、团队管理以及沟通协作。每一项能力的培养，都伴随着相应的思政元素融入，比如在设计中强调质量至上，在创新中培养自主可控意识，真正实现知识、能力、素养三位一体的培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课程设计方向。我们提供了三个前沿的技术方向供大家选择。分别是面向Linux的嵌入式设备开发，基于鸿蒙OS的智能设备开发，以及深入底层的微机原理与接口技术。大家可以根据自己的兴趣和职业规划来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第一个方向是嵌入式设备开发。这个方向主要基于Linux系统，使用C/C++语言在FS6818开发板上进行开发。大家将学习系统编程、驱动开发等核心技能，这是物联网和智能设备领域的必备技能。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第二个方向是鸿蒙OS智能设备开发。这是一个非常前沿的方向，基于华为的鸿蒙操作系统。大家将学习鸿蒙的应用开发流程和分布式技术，亲手开发能在鸿蒙设备上运行的应用，感受万物互联的未来趋势。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方向是微机原理与接口技术。这个方向更偏向底层，需要大家使用汇编或C语言，直接与硬件资源打交道。通过这个方向的学习，你将建立起对计算机系统最底层、最深刻的理解，这对于成为一名优秀的系统工程师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课程的安排与实施流程。整个课程分为五个阶段，共20学时。从开发环境搭建开始，到硬件系统搭建，再到项目实现、测试优化，最后是项目验收。每个阶段都有明确的核心任务，并融入了相应的思政主题，确保大家在学习技术的同时，也能提升职业素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两次课，我们将完成开发环境的搭建和硬件系统的初步搭建。第一次课，大家需要配置好开发环境，组建团队并确定项目选题。第二次课，我们将深入硬件模块，学习如何设计和搭建可靠的硬件电路。这两个环节是整个项目的基础，非常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和第四次课是项目的核心实现阶段。第三次课，大家将进行详细设计并编写代码，我们强调代码质量和工匠精神。第四次课，重点是测试与优化，大家需要学会如何科学地测试自己的系统，并不断改进，树立质量第一的意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次课是项目验收。这是大家展示学习成果的舞台。你们需要以团队形式，向评委老师展示你们的项目成果，并回答提问。这不仅是对技术能力的考验，更是对团队协作、表达能力和专业自信的综合检验。希望大家都能自信地展示自己的作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部分，我们来谈谈课程思政。这门课不仅教技术，更要育人。我们将通过多种方式，将家国情怀、工程伦理、工匠精神、团队协作、创新自信和诚信治学这些重要的价值观，融入到课程的每一个环节，培养大家成为一名有理想、有道德、有本领的工程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与展望。这门课程为大家构建了一个完整的学习闭环，希望大家不仅掌握了硬件开发的技能，更塑造了工程师的职业精神。课程的结束是新的开始，希望大家能将所学知识融会贯通，坚定理想信念，在未来的道路上勇攀高峰，为科技强国贡献自己的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我的介绍到此结束，感谢大家的聆听。现在是问答环节，大家有任何问题都可以提出。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6.xml"/><Relationship Id="rId10" Type="http://schemas.openxmlformats.org/officeDocument/2006/relationships/image" Target="../media/image6.sv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50.xml"/><Relationship Id="rId24" Type="http://schemas.openxmlformats.org/officeDocument/2006/relationships/image" Target="../media/image18.svg"/><Relationship Id="rId23" Type="http://schemas.openxmlformats.org/officeDocument/2006/relationships/image" Target="../media/image17.png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35.xml"/><Relationship Id="rId19" Type="http://schemas.openxmlformats.org/officeDocument/2006/relationships/tags" Target="../tags/tag46.xml"/><Relationship Id="rId18" Type="http://schemas.openxmlformats.org/officeDocument/2006/relationships/image" Target="../media/image16.svg"/><Relationship Id="rId17" Type="http://schemas.openxmlformats.org/officeDocument/2006/relationships/image" Target="../media/image15.png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tags" Target="../tags/tag4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65.xml"/><Relationship Id="rId21" Type="http://schemas.openxmlformats.org/officeDocument/2006/relationships/tags" Target="../tags/tag64.xml"/><Relationship Id="rId20" Type="http://schemas.openxmlformats.org/officeDocument/2006/relationships/image" Target="../media/image22.svg"/><Relationship Id="rId2" Type="http://schemas.openxmlformats.org/officeDocument/2006/relationships/tags" Target="../tags/tag51.xml"/><Relationship Id="rId19" Type="http://schemas.openxmlformats.org/officeDocument/2006/relationships/image" Target="../media/image21.png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tags" Target="../tags/tag67.xml"/><Relationship Id="rId28" Type="http://schemas.openxmlformats.org/officeDocument/2006/relationships/notesSlide" Target="../notesSlides/notesSlide9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35.png"/><Relationship Id="rId25" Type="http://schemas.openxmlformats.org/officeDocument/2006/relationships/tags" Target="../tags/tag81.xml"/><Relationship Id="rId24" Type="http://schemas.openxmlformats.org/officeDocument/2006/relationships/tags" Target="../tags/tag80.xml"/><Relationship Id="rId23" Type="http://schemas.openxmlformats.org/officeDocument/2006/relationships/image" Target="../media/image34.svg"/><Relationship Id="rId22" Type="http://schemas.openxmlformats.org/officeDocument/2006/relationships/image" Target="../media/image33.png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6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image" Target="../media/image28.svg"/><Relationship Id="rId16" Type="http://schemas.openxmlformats.org/officeDocument/2006/relationships/image" Target="../media/image27.png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3" Type="http://schemas.openxmlformats.org/officeDocument/2006/relationships/notesSlide" Target="../notesSlides/notesSlide11.xml"/><Relationship Id="rId42" Type="http://schemas.openxmlformats.org/officeDocument/2006/relationships/slideLayout" Target="../slideLayouts/slideLayout12.xml"/><Relationship Id="rId41" Type="http://schemas.openxmlformats.org/officeDocument/2006/relationships/tags" Target="../tags/tag111.xml"/><Relationship Id="rId40" Type="http://schemas.openxmlformats.org/officeDocument/2006/relationships/tags" Target="../tags/tag110.xml"/><Relationship Id="rId4" Type="http://schemas.openxmlformats.org/officeDocument/2006/relationships/tags" Target="../tags/tag84.xml"/><Relationship Id="rId39" Type="http://schemas.openxmlformats.org/officeDocument/2006/relationships/tags" Target="../tags/tag109.xml"/><Relationship Id="rId38" Type="http://schemas.openxmlformats.org/officeDocument/2006/relationships/image" Target="../media/image30.svg"/><Relationship Id="rId37" Type="http://schemas.openxmlformats.org/officeDocument/2006/relationships/image" Target="../media/image29.png"/><Relationship Id="rId36" Type="http://schemas.openxmlformats.org/officeDocument/2006/relationships/tags" Target="../tags/tag108.xml"/><Relationship Id="rId35" Type="http://schemas.openxmlformats.org/officeDocument/2006/relationships/tags" Target="../tags/tag107.xml"/><Relationship Id="rId34" Type="http://schemas.openxmlformats.org/officeDocument/2006/relationships/tags" Target="../tags/tag106.xml"/><Relationship Id="rId33" Type="http://schemas.openxmlformats.org/officeDocument/2006/relationships/tags" Target="../tags/tag105.xml"/><Relationship Id="rId32" Type="http://schemas.openxmlformats.org/officeDocument/2006/relationships/tags" Target="../tags/tag104.xml"/><Relationship Id="rId31" Type="http://schemas.openxmlformats.org/officeDocument/2006/relationships/tags" Target="../tags/tag103.xml"/><Relationship Id="rId30" Type="http://schemas.openxmlformats.org/officeDocument/2006/relationships/image" Target="../media/image38.svg"/><Relationship Id="rId3" Type="http://schemas.openxmlformats.org/officeDocument/2006/relationships/tags" Target="../tags/tag83.xml"/><Relationship Id="rId29" Type="http://schemas.openxmlformats.org/officeDocument/2006/relationships/image" Target="../media/image37.png"/><Relationship Id="rId28" Type="http://schemas.openxmlformats.org/officeDocument/2006/relationships/tags" Target="../tags/tag102.xml"/><Relationship Id="rId27" Type="http://schemas.openxmlformats.org/officeDocument/2006/relationships/tags" Target="../tags/tag101.xml"/><Relationship Id="rId26" Type="http://schemas.openxmlformats.org/officeDocument/2006/relationships/tags" Target="../tags/tag100.xml"/><Relationship Id="rId25" Type="http://schemas.openxmlformats.org/officeDocument/2006/relationships/tags" Target="../tags/tag99.xml"/><Relationship Id="rId24" Type="http://schemas.openxmlformats.org/officeDocument/2006/relationships/tags" Target="../tags/tag98.xml"/><Relationship Id="rId23" Type="http://schemas.openxmlformats.org/officeDocument/2006/relationships/tags" Target="../tags/tag97.xml"/><Relationship Id="rId22" Type="http://schemas.openxmlformats.org/officeDocument/2006/relationships/image" Target="../media/image28.svg"/><Relationship Id="rId21" Type="http://schemas.openxmlformats.org/officeDocument/2006/relationships/image" Target="../media/image27.png"/><Relationship Id="rId20" Type="http://schemas.openxmlformats.org/officeDocument/2006/relationships/tags" Target="../tags/tag96.xml"/><Relationship Id="rId2" Type="http://schemas.openxmlformats.org/officeDocument/2006/relationships/tags" Target="../tags/tag82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6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硬件综合设计开发</a:t>
            </a:r>
            <a:endParaRPr lang="zh-CN" altLang="en-US" sz="4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课程设计与实践指导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889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人工智能学院 | 计算机专业实验教学中心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84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921000" y="711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52500" y="2032000"/>
            <a:ext cx="635000" cy="1524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952500" y="2349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778000" y="2032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课程概述与目标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课程定位 · OBE模式 · 核心能力 · 思政融合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4445000" y="1778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635500" y="2032000"/>
            <a:ext cx="635000" cy="1524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4635500" y="2349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5461000" y="2032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课程设计方向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嵌入式设备 · 鸿蒙OS · 微机原理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8128000" y="1778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8318500" y="2032000"/>
            <a:ext cx="635000" cy="1524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8318500" y="2349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9144000" y="2032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课程安排与实施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五阶段教学模式详解，循序渐进掌握知识体系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2159000" y="419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2266950" y="4445000"/>
            <a:ext cx="635000" cy="1524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2255520" y="4762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3081020" y="4445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SzTx/>
              <a:defRPr/>
            </a:pPr>
            <a:r>
              <a:rPr lang="en-US" sz="17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各方向具体选题</a:t>
            </a:r>
            <a:endParaRPr lang="en-US" sz="17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从开发环境搭建到项目最终验收的全过程解析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18"/>
            </p:custDataLst>
          </p:nvPr>
        </p:nvSpPr>
        <p:spPr>
          <a:xfrm>
            <a:off x="6739890" y="42164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19"/>
            </p:custDataLst>
          </p:nvPr>
        </p:nvSpPr>
        <p:spPr>
          <a:xfrm>
            <a:off x="7004050" y="4445000"/>
            <a:ext cx="635000" cy="1524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0"/>
            </p:custDataLst>
          </p:nvPr>
        </p:nvSpPr>
        <p:spPr>
          <a:xfrm>
            <a:off x="6958330" y="4762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1"/>
            </p:custDataLst>
          </p:nvPr>
        </p:nvSpPr>
        <p:spPr>
          <a:xfrm>
            <a:off x="7783830" y="4445000"/>
            <a:ext cx="2095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全面回顾课程重点，展望未来的技术与职业发展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课程概述与目标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227455" y="1778000"/>
            <a:ext cx="10202545" cy="197485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7960" y="21717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2301240" y="1968500"/>
            <a:ext cx="8874760" cy="13798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课程定位与知识融合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计算机专业核心实践课，旨在综合运用并深化《嵌入式系统》《鸿蒙操作系统》《物联网技术》</a:t>
            </a:r>
            <a:r>
              <a:rPr lang="zh-CN" alt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《微机原理与接口技术》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等先修课程知识，构建系统化知识体系。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226820" y="4281805"/>
            <a:ext cx="10203180" cy="1820545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57960" y="4599305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2301240" y="4472305"/>
            <a:ext cx="8874760" cy="1334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核心目标：理论到实践的跨越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通过综合设计训练，巩固理论基础，重点培养将技术知识转化为解决复杂工程问题的实战能力。</a:t>
            </a:r>
            <a:endParaRPr lang="en-US" sz="18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课程概述与目标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教学模式：基于学习产出的教育模式 (Outcome-Based Education, OBE)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本课程采用先进的</a:t>
            </a: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基于学习产出的教育模式 (OBE)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，摒弃传统的“以教为主”，强调以学生最终的学习成果（能力、知识、素养）为导向，反向设计并组织教学过程，确保所学知识与实际职业能力需求紧密衔接。</a:t>
            </a:r>
            <a:endParaRPr lang="en-US" sz="18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3429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8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460500" y="3657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OBE 核心特征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16000" y="4318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目标导向：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所有教学环节紧扣预设的学习成果展开，拒绝“无的放矢”。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学生中心：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从“老师讲”转向“学生学”，强调学生的深度参与与主动探索。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持续改进：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通过多维度的成果评估，不断优化课程内容与教学方法。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23000" y="3429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683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6921500" y="3657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在本课程中的落地应用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477000" y="4318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挑战性任务驱动：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以“策划→设计→实现→答辩”全流程项目贯穿课程始终。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综合能力展示：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实践中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锻炼系统设计、软硬件开发、团队协作与解决问题的能力。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价值与素养引领：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在项目实践中同步融入工程伦理与责任担当的职业精神培养。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课程概述与目标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核心培养目标：四大能力塑造卓越工程师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16000" y="2476500"/>
            <a:ext cx="812800" cy="812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26289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2032000" y="2413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工程实践能力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将理论知识应用于实际硬件系统开发的全流程。通过亲手搭建电路、编写驱动、调试系统，获得真实的工程开发体验。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223000" y="2159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477000" y="2476500"/>
            <a:ext cx="812800" cy="812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9400" y="26289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7493000" y="2413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团队分工协作能力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在项目中明确角色，有效沟通，协同工作以完成复杂任务。模拟真实企业研发环境，培养良好的团队合作意识。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762000" y="4445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1016000" y="4762500"/>
            <a:ext cx="812800" cy="812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8400" y="49149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2032000" y="4699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自主创新与解决问题能力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面对未知难题，主动探索并分析根源，提出创新性解决方案。鼓励在掌握基础功能之上，发挥想象力进行创新设计。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6223000" y="4445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6477000" y="4762500"/>
            <a:ext cx="812800" cy="812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29400" y="49149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7493000" y="4699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职业素养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树立正确价值观和职业道德，养成严谨规范、诚实守信的工程作风。将个人职业发展与国家科技发展的需求紧密结合。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课程概述与目标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具体课程目标分解：五位一体，全方位能力培养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08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系统设计能力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能进行项目可行性与需求分析，独立构建硬件功能模块并完成整体设计。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endParaRPr lang="en-US" sz="1800" b="0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159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2349500"/>
            <a:ext cx="508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228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创新设计能力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结合技术趋势探寻新功能点，灵活采用新技术进行新颖设计与优化。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endParaRPr lang="en-US" sz="1800" b="0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159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0" y="2349500"/>
            <a:ext cx="508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0" y="228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信息检索与测试能力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有效调研技术资料并制定实践方案，能对系统进行全面的测试与科学评估。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endParaRPr lang="en-US" sz="1200" b="0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635500"/>
            <a:ext cx="508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572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📊 团队分工与管理能力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合理进行任务分工与协作，具备初步的项目进度规划与风险管理能力，带领团队合力攻克技术难关。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endParaRPr lang="en-US" sz="1800" b="0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4445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4635500"/>
            <a:ext cx="508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572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🗣️ 沟通协作能力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善于换位思考，能充分理解不同专业背景成员的思路，在项目中进行密切沟通与高效合作。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endParaRPr lang="en-US" sz="1200" b="0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课程设计方向与内容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本课程提供三个主流技术方向供学生选择，学生可根据个人兴趣、知识背景和职业规划，选择一个方向进行深入实践。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667000"/>
            <a:ext cx="3302000" cy="385953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667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3048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66800" y="3937000"/>
            <a:ext cx="269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方向一：嵌入式设备开发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66800" y="4826000"/>
            <a:ext cx="2692400" cy="13481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面向Linux操作系统的嵌入式应用开发，是物联网、智能设备等领域的核心技术，也是当前行业中需求量极大的方向之一。</a:t>
            </a:r>
            <a:endParaRPr lang="en-US" sz="18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445000" y="2667000"/>
            <a:ext cx="3302000" cy="385953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445000" y="2667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49800" y="3048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4749800" y="3937000"/>
            <a:ext cx="269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方向二：鸿蒙OS智能设备开发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4749800" y="4826000"/>
            <a:ext cx="269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基于华为鸿蒙操作系统(HarmonyOS)的智能设备应用开发，面向万物互联与全场景智慧生活的前沿技术</a:t>
            </a:r>
            <a:r>
              <a:rPr lang="zh-CN" alt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8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128000" y="2667000"/>
            <a:ext cx="3302000" cy="385953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128000" y="2667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32800" y="3048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8432800" y="3937000"/>
            <a:ext cx="269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方向三：微机原理与接口技术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432800" y="4826000"/>
            <a:ext cx="269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深入计算机底层，理解微型计算机的工作原理及其与外部设备的接口技术，夯实硬件与底层逻辑的技术基础。</a:t>
            </a:r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课程设计方向与内容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方向一：嵌入式设备开发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19000" r="18999"/>
          <a:stretch>
            <a:fillRect/>
          </a:stretch>
        </p:blipFill>
        <p:spPr>
          <a:xfrm>
            <a:off x="952500" y="2730500"/>
            <a:ext cx="11430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222500" y="2794000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Linux 开发环境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 / 交叉编译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699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" y="5016500"/>
            <a:ext cx="11430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2222500" y="5080000"/>
            <a:ext cx="165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FS6818 开发板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ARM架构 / 硬件实操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2413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667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2641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核心技术领域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302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 Linux 操作系统的嵌入式应用开发，是构建物联网 (IoT)、智能硬件、工业控制等领域产品的底层核心技术栈。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667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641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全栈开发环境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302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Linux 系统环境、GCC 交叉编译工具链、Makefile 工程管理。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ARM 架构的 FS6818 开发板及外设模块。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4699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00" y="4953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07000" y="4927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主要开发语言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5588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语言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为核心基础，掌握指针、内存管理、结构体等底层特性；辅以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进行面向对象的工程化开发，兼顾执行效率与代码可维护性。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4699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0" y="4953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890000" y="4927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综合实战目标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5588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掌握系统编程、多线程/进程、网络编程及设备驱动开发流程，最终独立完成一个功能完备、可运行于真实硬件的嵌入式系统应用项目。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课程设计方向与内容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1778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方向二：鸿蒙OS 智能设备开发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5334000" y="2667000"/>
            <a:ext cx="2921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2857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5969000" y="2819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技术领域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5524500" y="3429000"/>
            <a:ext cx="254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基于华为鸿蒙操作系统(HarmonyOS)的智能设备应用开发，面向全场景智慧生活的前沿技术领域。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8509000" y="2667000"/>
            <a:ext cx="2921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99500" y="285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9144000" y="2819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开发环境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8699500" y="3429000"/>
            <a:ext cx="254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Linux操作系统（或虚拟机）、鸿蒙应用开发IDE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硬件：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启航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KP-IoT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智能开发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套件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5334000" y="4699000"/>
            <a:ext cx="2921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24500" y="4889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5969000" y="4851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开发语言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5524500" y="5461000"/>
            <a:ext cx="254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C语言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为核心开发语言，构建高性能、底层驱动及应用逻辑，掌握系统级编程思维。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8509000" y="4699000"/>
            <a:ext cx="2921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99500" y="4889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9144000" y="4851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实践内容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699500" y="5461000"/>
            <a:ext cx="254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深入鸿蒙OS架构与分布式技术，完成可运行的鸿蒙设备应用开发，亲身体验万物互联魅力。</a:t>
            </a:r>
            <a:endParaRPr lang="en-US" sz="11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1385" y="2491105"/>
            <a:ext cx="3411220" cy="3702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课程设计方向与内容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方向三：微机原理与接口技术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2545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159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indent="0" algn="l">
              <a:lnSpc>
                <a:spcPct val="108000"/>
              </a:lnSpc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42545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开发工具与环境</a:t>
            </a:r>
            <a:endParaRPr lang="en-US" sz="16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开发语言：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汇编语言或C语言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配套环境：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汇编器、C语言编译器；唐都微机原理与接口技术实验设备。</a:t>
            </a:r>
            <a:endParaRPr 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95" y="2261235"/>
            <a:ext cx="4866005" cy="36861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323965" y="2261235"/>
            <a:ext cx="4670425" cy="140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8000"/>
              </a:lnSpc>
              <a:defRPr/>
            </a:pPr>
            <a:r>
              <a:rPr lang="en-US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技术领域与实践</a:t>
            </a:r>
            <a:endParaRPr lang="en-US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深入计算机底层，理解微型计算机的工作原理及其与外部设备的接口技术。通过编写底层代码，直接控制CPU、存储器、I/O接口等硬件资源，实现如中断处理、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</a:t>
            </a: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传输等底层功能，建立对计算机系统最深刻的理解。</a:t>
            </a:r>
            <a:endParaRPr lang="zh-CN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课程安排与实施流程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本课程采用五阶段教学模式，共计20学时，贯穿从项目启动到最终验收的全过程，实现“技术技能”与“职业素养”的双重培养。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413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333500" y="2692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课次一 · 4学时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889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开发环境搭建</a:t>
            </a:r>
            <a:b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4191000"/>
            <a:ext cx="1778000" cy="1248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核心任务：</a:t>
            </a: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配置开发环境，确定课程选题，完成团队分组与分工。</a:t>
            </a:r>
            <a:endParaRPr lang="en-US" sz="18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889000" y="5334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3048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3048000" y="2413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38500" y="273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3619500" y="2692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课次二 · 4学时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3175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硬件模块与搭建</a:t>
            </a:r>
            <a:b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175000" y="4441190"/>
            <a:ext cx="1778000" cy="702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核心任务：</a:t>
            </a: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根据需求选用硬件模块，完成电路连接与系统硬件搭建。</a:t>
            </a:r>
            <a:endParaRPr lang="en-US" sz="1800"/>
          </a:p>
        </p:txBody>
      </p:sp>
      <p:sp>
        <p:nvSpPr>
          <p:cNvPr id="18" name="AutoShape 18"/>
          <p:cNvSpPr/>
          <p:nvPr>
            <p:custDataLst>
              <p:tags r:id="rId17"/>
            </p:custDataLst>
          </p:nvPr>
        </p:nvSpPr>
        <p:spPr>
          <a:xfrm>
            <a:off x="3175000" y="5334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8"/>
            </p:custDataLst>
          </p:nvPr>
        </p:nvSpPr>
        <p:spPr>
          <a:xfrm>
            <a:off x="5334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9"/>
            </p:custDataLst>
          </p:nvPr>
        </p:nvSpPr>
        <p:spPr>
          <a:xfrm>
            <a:off x="5334000" y="2413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524500" y="2730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3"/>
            </p:custDataLst>
          </p:nvPr>
        </p:nvSpPr>
        <p:spPr>
          <a:xfrm>
            <a:off x="5905500" y="2692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课次三 · 4学时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4"/>
            </p:custDataLst>
          </p:nvPr>
        </p:nvSpPr>
        <p:spPr>
          <a:xfrm>
            <a:off x="5461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项目功能实现</a:t>
            </a:r>
            <a:b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461000" y="4191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核心任务：</a:t>
            </a: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完成软件详细设计，编写功能代码并进行初步联调。</a:t>
            </a:r>
            <a:endParaRPr lang="en-US" sz="1800"/>
          </a:p>
        </p:txBody>
      </p:sp>
      <p:sp>
        <p:nvSpPr>
          <p:cNvPr id="25" name="AutoShape 25"/>
          <p:cNvSpPr/>
          <p:nvPr>
            <p:custDataLst>
              <p:tags r:id="rId25"/>
            </p:custDataLst>
          </p:nvPr>
        </p:nvSpPr>
        <p:spPr>
          <a:xfrm>
            <a:off x="5461000" y="5334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26"/>
            </p:custDataLst>
          </p:nvPr>
        </p:nvSpPr>
        <p:spPr>
          <a:xfrm>
            <a:off x="7620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7"/>
            </p:custDataLst>
          </p:nvPr>
        </p:nvSpPr>
        <p:spPr>
          <a:xfrm>
            <a:off x="7620000" y="2413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10500" y="2730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>
            <p:custDataLst>
              <p:tags r:id="rId31"/>
            </p:custDataLst>
          </p:nvPr>
        </p:nvSpPr>
        <p:spPr>
          <a:xfrm>
            <a:off x="8191500" y="2692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课次四 · 4学时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32"/>
            </p:custDataLst>
          </p:nvPr>
        </p:nvSpPr>
        <p:spPr>
          <a:xfrm>
            <a:off x="7747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测试与优化</a:t>
            </a:r>
            <a:b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747000" y="4191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核心任务：</a:t>
            </a: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设计测试用例，全面进行功能测试，优化系统性能。</a:t>
            </a:r>
            <a:endParaRPr lang="en-US" sz="1800"/>
          </a:p>
        </p:txBody>
      </p:sp>
      <p:sp>
        <p:nvSpPr>
          <p:cNvPr id="32" name="AutoShape 32"/>
          <p:cNvSpPr/>
          <p:nvPr>
            <p:custDataLst>
              <p:tags r:id="rId33"/>
            </p:custDataLst>
          </p:nvPr>
        </p:nvSpPr>
        <p:spPr>
          <a:xfrm>
            <a:off x="7747000" y="5334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34"/>
            </p:custDataLst>
          </p:nvPr>
        </p:nvSpPr>
        <p:spPr>
          <a:xfrm>
            <a:off x="9906000" y="2413000"/>
            <a:ext cx="2032000" cy="3937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>
            <p:custDataLst>
              <p:tags r:id="rId35"/>
            </p:custDataLst>
          </p:nvPr>
        </p:nvSpPr>
        <p:spPr>
          <a:xfrm>
            <a:off x="9906000" y="2413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096500" y="27305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>
            <p:custDataLst>
              <p:tags r:id="rId39"/>
            </p:custDataLst>
          </p:nvPr>
        </p:nvSpPr>
        <p:spPr>
          <a:xfrm>
            <a:off x="10477500" y="2692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课次五 · 4学时</a:t>
            </a:r>
            <a:endParaRPr lang="en-US" sz="1100"/>
          </a:p>
        </p:txBody>
      </p:sp>
      <p:sp>
        <p:nvSpPr>
          <p:cNvPr id="37" name="AutoShape 37"/>
          <p:cNvSpPr/>
          <p:nvPr>
            <p:custDataLst>
              <p:tags r:id="rId40"/>
            </p:custDataLst>
          </p:nvPr>
        </p:nvSpPr>
        <p:spPr>
          <a:xfrm>
            <a:off x="10033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项目验收答辩</a:t>
            </a:r>
            <a:b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033000" y="4191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核心任务：</a:t>
            </a:r>
            <a:r>
              <a:rPr lang="en-US" sz="1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进行最终成果展示与答辩，复盘总结项目经验。</a:t>
            </a:r>
            <a:endParaRPr lang="en-US" sz="1800"/>
          </a:p>
        </p:txBody>
      </p:sp>
      <p:sp>
        <p:nvSpPr>
          <p:cNvPr id="39" name="AutoShape 39"/>
          <p:cNvSpPr/>
          <p:nvPr>
            <p:custDataLst>
              <p:tags r:id="rId41"/>
            </p:custDataLst>
          </p:nvPr>
        </p:nvSpPr>
        <p:spPr>
          <a:xfrm>
            <a:off x="10033000" y="5334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1366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22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课程设计各方向主要选题</a:t>
            </a:r>
            <a:endParaRPr lang="en-US" sz="2200" b="1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</a:t>
            </a:r>
            <a:r>
              <a:rPr lang="zh-CN" alt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endParaRPr lang="zh-CN" altLang="en-US" sz="22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20955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460500" y="243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题（</a:t>
            </a:r>
            <a:r>
              <a:rPr lang="en-US" altLang="zh-CN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气泡水平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仪</a:t>
            </a:r>
            <a:endParaRPr lang="zh-CN" altLang="en-US" sz="19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397000" y="3022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100"/>
          </a:p>
          <a:p>
            <a:pPr algn="l">
              <a:lnSpc>
                <a:spcPct val="117000"/>
              </a:lnSpc>
              <a:buSzTx/>
              <a:defRPr/>
            </a:pP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模拟气泡水平仪，通过16x16点阵模块来显示气泡，上方数码管显示出具体的倾斜角度。气泡设置为距离中心点越远移动越慢。  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2159000"/>
            <a:ext cx="5207000" cy="20955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2159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781800" y="2438400"/>
            <a:ext cx="43307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课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题（</a:t>
            </a:r>
            <a:r>
              <a:rPr lang="en-US" altLang="zh-CN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门禁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endParaRPr lang="zh-CN" altLang="en-US" sz="19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781800" y="2818765"/>
            <a:ext cx="4318000" cy="965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17000"/>
              </a:lnSpc>
              <a:buSzTx/>
              <a:defRPr/>
            </a:pP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通过密码和RFID 射频识别卡来进行门禁识别，并利用点阵显示开关门图像。 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AutoShape 5"/>
          <p:cNvSpPr/>
          <p:nvPr/>
        </p:nvSpPr>
        <p:spPr>
          <a:xfrm>
            <a:off x="781050" y="4434205"/>
            <a:ext cx="5207000" cy="20955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7"/>
          <p:cNvSpPr/>
          <p:nvPr/>
        </p:nvSpPr>
        <p:spPr>
          <a:xfrm>
            <a:off x="6242050" y="4434205"/>
            <a:ext cx="5207000" cy="20955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8"/>
          <p:cNvSpPr/>
          <p:nvPr/>
        </p:nvSpPr>
        <p:spPr>
          <a:xfrm>
            <a:off x="1511935" y="459486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题（</a:t>
            </a:r>
            <a:r>
              <a:rPr lang="en-US" altLang="zh-CN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家居</a:t>
            </a:r>
            <a:endParaRPr lang="zh-CN" altLang="en-US" sz="19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8"/>
          <p:cNvSpPr/>
          <p:nvPr/>
        </p:nvSpPr>
        <p:spPr>
          <a:xfrm>
            <a:off x="6587490" y="459486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课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题（</a:t>
            </a:r>
            <a:r>
              <a:rPr lang="en-US" altLang="zh-CN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俄罗斯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方块</a:t>
            </a:r>
            <a:endParaRPr lang="zh-CN" altLang="en-US" sz="19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24"/>
          <p:cNvSpPr/>
          <p:nvPr/>
        </p:nvSpPr>
        <p:spPr>
          <a:xfrm>
            <a:off x="1460500" y="5207000"/>
            <a:ext cx="4191000" cy="965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模拟智能家居系统的环境监测和控制。包括门禁模块、温湿度感应模块、红外感应模块等。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AutoShape 24"/>
          <p:cNvSpPr/>
          <p:nvPr/>
        </p:nvSpPr>
        <p:spPr>
          <a:xfrm>
            <a:off x="6794500" y="5207000"/>
            <a:ext cx="4318000" cy="965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基于贪吃蛇游戏代码，利用点阵显示屏和遥控器实现俄罗斯方块游戏。</a:t>
            </a: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32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课程设计各方向主要选题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鸿蒙</a:t>
            </a:r>
            <a:r>
              <a:rPr lang="en-US" altLang="zh-CN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</a:t>
            </a:r>
            <a:r>
              <a:rPr lang="zh-CN" alt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</a:t>
            </a:r>
            <a:r>
              <a:rPr lang="zh-CN" alt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endParaRPr lang="zh-CN" altLang="en-US" sz="22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4740275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368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311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428879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SzTx/>
              <a:defRPr/>
            </a:pP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基于鸿蒙OS智能设备，利用MQTT协议与物联网云平台技术（腾讯云IoT Explorer、阿里云IoT平台、OneNET（中移物联）），构建基于鸿蒙的智能家居系统架构，实现应用和设备间的通信与数据交换。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08000"/>
              </a:lnSpc>
              <a:buSzTx/>
              <a:defRPr/>
            </a:pP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3368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23114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课次四：系统功能测试及优化</a:t>
            </a:r>
            <a:endParaRPr lang="en-US" sz="1100"/>
          </a:p>
        </p:txBody>
      </p:sp>
      <p:sp>
        <p:nvSpPr>
          <p:cNvPr id="27" name="文本框 26"/>
          <p:cNvSpPr txBox="1"/>
          <p:nvPr/>
        </p:nvSpPr>
        <p:spPr>
          <a:xfrm>
            <a:off x="934720" y="4521835"/>
            <a:ext cx="4454525" cy="1422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8000"/>
              </a:lnSpc>
              <a:buSzTx/>
              <a:defRPr/>
            </a:pP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可选模块：智能风扇、GPS定位、语音识别、烟雾检测、智能门锁、心率血氧检测、OLED显示屏、人体识别、NFC、可燃气检测、智能健身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AutoShape 5"/>
          <p:cNvSpPr/>
          <p:nvPr/>
        </p:nvSpPr>
        <p:spPr>
          <a:xfrm>
            <a:off x="5892800" y="2159000"/>
            <a:ext cx="4740275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4405" y="2311400"/>
            <a:ext cx="413385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6525" y="-26225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鸿蒙</a:t>
            </a:r>
            <a:r>
              <a:rPr lang="en-US" altLang="zh-CN" sz="28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</a:t>
            </a:r>
            <a:r>
              <a:rPr lang="zh-CN" altLang="en-US" sz="28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设备开发示例</a:t>
            </a:r>
            <a:endParaRPr lang="zh-CN" altLang="en-US" sz="28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8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" y="1604010"/>
            <a:ext cx="5232400" cy="442531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670" y="1604010"/>
            <a:ext cx="5505450" cy="4424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utoShape 2"/>
          <p:cNvSpPr/>
          <p:nvPr/>
        </p:nvSpPr>
        <p:spPr>
          <a:xfrm>
            <a:off x="0" y="-11366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2200" b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课程设计各方向主要选题</a:t>
            </a:r>
            <a:endParaRPr lang="en-US" sz="2200" b="1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微机接口</a:t>
            </a:r>
            <a:r>
              <a:rPr lang="zh-CN" alt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endParaRPr lang="zh-CN" altLang="en-US" sz="22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5"/>
          <p:cNvSpPr/>
          <p:nvPr/>
        </p:nvSpPr>
        <p:spPr>
          <a:xfrm>
            <a:off x="762000" y="1777365"/>
            <a:ext cx="2950210" cy="4528185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6"/>
          <p:cNvSpPr/>
          <p:nvPr/>
        </p:nvSpPr>
        <p:spPr>
          <a:xfrm>
            <a:off x="762000" y="2159000"/>
            <a:ext cx="2949575" cy="8763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8"/>
          <p:cNvSpPr/>
          <p:nvPr/>
        </p:nvSpPr>
        <p:spPr>
          <a:xfrm>
            <a:off x="879475" y="2438400"/>
            <a:ext cx="255016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题（</a:t>
            </a:r>
            <a:r>
              <a:rPr lang="en-US" altLang="zh-CN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电梯</a:t>
            </a:r>
            <a:r>
              <a:rPr lang="zh-CN" alt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</a:t>
            </a:r>
            <a:endParaRPr lang="zh-CN" altLang="en-US" sz="19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12"/>
          <p:cNvSpPr/>
          <p:nvPr/>
        </p:nvSpPr>
        <p:spPr>
          <a:xfrm>
            <a:off x="878840" y="2818765"/>
            <a:ext cx="2762250" cy="711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100"/>
          </a:p>
          <a:p>
            <a:pPr algn="l">
              <a:lnSpc>
                <a:spcPct val="117000"/>
              </a:lnSpc>
              <a:buSzTx/>
              <a:defRPr/>
            </a:pP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用键盘、按钮、数码管和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LED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灯管模拟电梯工作过程。楼层为 4 层，键盘数字键 1-4用来键入希望停的楼层，4 个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LED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灯显示电梯上升下降过程（每隔一秒依次点亮或熄灭发光管），数码管显示当前电梯楼层。  </a:t>
            </a:r>
            <a:r>
              <a:rPr 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</a:t>
            </a:r>
            <a:endParaRPr 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AutoShape 20"/>
          <p:cNvSpPr/>
          <p:nvPr/>
        </p:nvSpPr>
        <p:spPr>
          <a:xfrm>
            <a:off x="6781800" y="2438400"/>
            <a:ext cx="43307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zh-CN" altLang="en-US" sz="19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8" name="AutoShape 5"/>
          <p:cNvSpPr/>
          <p:nvPr/>
        </p:nvSpPr>
        <p:spPr>
          <a:xfrm>
            <a:off x="4523105" y="1777365"/>
            <a:ext cx="2950210" cy="4528185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课题（2）：硬件连接并编写自检程序 </a:t>
            </a:r>
            <a:endParaRPr lang="zh-CN" altLang="en-US" sz="1800" b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对PC 总线微机应用实验装置中的部分硬件实行自检，要求的自检电路与相应的提示如下： </a:t>
            </a:r>
            <a:endParaRPr lang="zh-CN" alt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•对8个LED 灯自检：流水灯方式逐个点亮然后熄灭，周而复始2-3 遍。 </a:t>
            </a:r>
            <a:endParaRPr lang="zh-CN" alt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•对4个数码管自检：流水灯方式逐个显示1，2，..9，0。 </a:t>
            </a:r>
            <a:endParaRPr lang="zh-CN" alt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•对2×4键盘自检：对按键进行编号，按键显示对应数字。 </a:t>
            </a:r>
            <a:endParaRPr lang="zh-CN" alt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•对8个开关自检：开关合上，相应 LED灯亮；开关断开，相应LED 灯灭。</a:t>
            </a:r>
            <a:endParaRPr lang="zh-CN" alt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9" name="AutoShape 5"/>
          <p:cNvSpPr/>
          <p:nvPr/>
        </p:nvSpPr>
        <p:spPr>
          <a:xfrm>
            <a:off x="8355330" y="1777365"/>
            <a:ext cx="2950210" cy="4551045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课题（3）：电子密码锁的设计 </a:t>
            </a:r>
            <a:endParaRPr lang="zh-CN" altLang="en-US" sz="1800" b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•使用4个数码管显示密码输入的密码。 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•可以设置4位数字(0～9)密码。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•按确认键后点阵显示屏显示“关”。 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•密码输入正确，点阵显示屏显示“开”。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7000"/>
              </a:lnSpc>
              <a:buSzTx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•密码错误则发出报警声。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66800" y="2159000"/>
            <a:ext cx="4597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课程回顾与总结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921000"/>
            <a:ext cx="4597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本课程通过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三个核心技术方向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五个实践阶段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的系统训练，构建了一个从理论到实践、从个体到团队、从技术到素养的完整学习闭环。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课程以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“知识传授、能力培养、价值引领”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三位一体为核心，全面提升学生的硬件综合设计开发能力和工程师职业精神。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27800" y="3937000"/>
            <a:ext cx="4597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ct val="0"/>
              </a:spcBef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未来发展与展望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zh-CN" alt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从国家战略层面来看，开展鸿蒙应用开发是践行科技自立自强、保障国家数字安全的关键举措。鸿蒙为全栈自研国产操作系统，可打破国外系统技术垄断，规避核心技术 “卡脖子” 风险，筑牢物联网、智能家居领域的自主可控数字底座，助力我国数字产业生态自主化、规范化发展。</a:t>
            </a:r>
            <a:endParaRPr lang="zh-CN" alt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1856740"/>
            <a:ext cx="3247390" cy="19475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508500" y="2032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3556000"/>
            <a:ext cx="127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4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5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6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7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8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9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370,&quot;left&quot;:83.1,&quot;top&quot;:140,&quot;width&quot;:816.9}"/>
</p:tagLst>
</file>

<file path=ppt/tags/tag22.xml><?xml version="1.0" encoding="utf-8"?>
<p:tagLst xmlns:p="http://schemas.openxmlformats.org/presentationml/2006/main">
  <p:tag name="KSO_WM_DIAGRAM_VIRTUALLY_FRAME" val="{&quot;height&quot;:370,&quot;left&quot;:83.1,&quot;top&quot;:140,&quot;width&quot;:816.9}"/>
</p:tagLst>
</file>

<file path=ppt/tags/tag23.xml><?xml version="1.0" encoding="utf-8"?>
<p:tagLst xmlns:p="http://schemas.openxmlformats.org/presentationml/2006/main">
  <p:tag name="KSO_WM_DIAGRAM_VIRTUALLY_FRAME" val="{&quot;height&quot;:370,&quot;left&quot;:83.1,&quot;top&quot;:140,&quot;width&quot;:816.9}"/>
</p:tagLst>
</file>

<file path=ppt/tags/tag24.xml><?xml version="1.0" encoding="utf-8"?>
<p:tagLst xmlns:p="http://schemas.openxmlformats.org/presentationml/2006/main">
  <p:tag name="KSO_WM_DIAGRAM_VIRTUALLY_FRAME" val="{&quot;height&quot;:370,&quot;left&quot;:83.1,&quot;top&quot;:140,&quot;width&quot;:816.9}"/>
</p:tagLst>
</file>

<file path=ppt/tags/tag25.xml><?xml version="1.0" encoding="utf-8"?>
<p:tagLst xmlns:p="http://schemas.openxmlformats.org/presentationml/2006/main">
  <p:tag name="KSO_WM_DIAGRAM_VIRTUALLY_FRAME" val="{&quot;height&quot;:370,&quot;left&quot;:83.1,&quot;top&quot;:140,&quot;width&quot;:816.9}"/>
</p:tagLst>
</file>

<file path=ppt/tags/tag26.xml><?xml version="1.0" encoding="utf-8"?>
<p:tagLst xmlns:p="http://schemas.openxmlformats.org/presentationml/2006/main">
  <p:tag name="KSO_WM_DIAGRAM_VIRTUALLY_FRAME" val="{&quot;height&quot;:370,&quot;left&quot;:83.1,&quot;top&quot;:140,&quot;width&quot;:816.9}"/>
</p:tagLst>
</file>

<file path=ppt/tags/tag27.xml><?xml version="1.0" encoding="utf-8"?>
<p:tagLst xmlns:p="http://schemas.openxmlformats.org/presentationml/2006/main">
  <p:tag name="KSO_WM_DIAGRAM_VIRTUALLY_FRAME" val="{&quot;height&quot;:220,&quot;left&quot;:60,&quot;top&quot;:270,&quot;width&quot;:840}"/>
</p:tagLst>
</file>

<file path=ppt/tags/tag28.xml><?xml version="1.0" encoding="utf-8"?>
<p:tagLst xmlns:p="http://schemas.openxmlformats.org/presentationml/2006/main">
  <p:tag name="KSO_WM_DIAGRAM_VIRTUALLY_FRAME" val="{&quot;height&quot;:220,&quot;left&quot;:60,&quot;top&quot;:270,&quot;width&quot;:840}"/>
</p:tagLst>
</file>

<file path=ppt/tags/tag29.xml><?xml version="1.0" encoding="utf-8"?>
<p:tagLst xmlns:p="http://schemas.openxmlformats.org/presentationml/2006/main">
  <p:tag name="KSO_WM_DIAGRAM_VIRTUALLY_FRAME" val="{&quot;height&quot;:220,&quot;left&quot;:60,&quot;top&quot;:270,&quot;width&quot;:840}"/>
</p:tagLst>
</file>

<file path=ppt/tags/tag30.xml><?xml version="1.0" encoding="utf-8"?>
<p:tagLst xmlns:p="http://schemas.openxmlformats.org/presentationml/2006/main">
  <p:tag name="KSO_WM_DIAGRAM_VIRTUALLY_FRAME" val="{&quot;height&quot;:220,&quot;left&quot;:60,&quot;top&quot;:270,&quot;width&quot;:840}"/>
</p:tagLst>
</file>

<file path=ppt/tags/tag31.xml><?xml version="1.0" encoding="utf-8"?>
<p:tagLst xmlns:p="http://schemas.openxmlformats.org/presentationml/2006/main">
  <p:tag name="KSO_WM_DIAGRAM_VIRTUALLY_FRAME" val="{&quot;height&quot;:220,&quot;left&quot;:60,&quot;top&quot;:270,&quot;width&quot;:840}"/>
</p:tagLst>
</file>

<file path=ppt/tags/tag32.xml><?xml version="1.0" encoding="utf-8"?>
<p:tagLst xmlns:p="http://schemas.openxmlformats.org/presentationml/2006/main">
  <p:tag name="KSO_WM_DIAGRAM_VIRTUALLY_FRAME" val="{&quot;height&quot;:220,&quot;left&quot;:60,&quot;top&quot;:270,&quot;width&quot;:840}"/>
</p:tagLst>
</file>

<file path=ppt/tags/tag33.xml><?xml version="1.0" encoding="utf-8"?>
<p:tagLst xmlns:p="http://schemas.openxmlformats.org/presentationml/2006/main">
  <p:tag name="KSO_WM_DIAGRAM_VIRTUALLY_FRAME" val="{&quot;height&quot;:220,&quot;left&quot;:60,&quot;top&quot;:270,&quot;width&quot;:840}"/>
</p:tagLst>
</file>

<file path=ppt/tags/tag34.xml><?xml version="1.0" encoding="utf-8"?>
<p:tagLst xmlns:p="http://schemas.openxmlformats.org/presentationml/2006/main">
  <p:tag name="KSO_WM_DIAGRAM_VIRTUALLY_FRAME" val="{&quot;height&quot;:220,&quot;left&quot;:60,&quot;top&quot;:270,&quot;width&quot;:840}"/>
</p:tagLst>
</file>

<file path=ppt/tags/tag35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36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37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38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39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0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1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2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3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4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5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6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7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8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49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50.xml><?xml version="1.0" encoding="utf-8"?>
<p:tagLst xmlns:p="http://schemas.openxmlformats.org/presentationml/2006/main">
  <p:tag name="KSO_WM_DIAGRAM_VIRTUALLY_FRAME" val="{&quot;height&quot;:340,&quot;left&quot;:60,&quot;top&quot;:170,&quot;width&quot;:840}"/>
</p:tagLst>
</file>

<file path=ppt/tags/tag51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52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53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54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55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56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57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58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59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60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61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62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63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64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65.xml><?xml version="1.0" encoding="utf-8"?>
<p:tagLst xmlns:p="http://schemas.openxmlformats.org/presentationml/2006/main">
  <p:tag name="KSO_WM_DIAGRAM_VIRTUALLY_FRAME" val="{&quot;height&quot;:303.9,&quot;left&quot;:60,&quot;top&quot;:210,&quot;width&quot;:840}"/>
</p:tagLst>
</file>

<file path=ppt/tags/tag66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67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68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69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0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1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2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3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4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5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6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7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8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79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80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81.xml><?xml version="1.0" encoding="utf-8"?>
<p:tagLst xmlns:p="http://schemas.openxmlformats.org/presentationml/2006/main">
  <p:tag name="KSO_WM_DIAGRAM_VIRTUALLY_FRAME" val="{&quot;height&quot;:305,&quot;left&quot;:420,&quot;top&quot;:210,&quot;width&quot;:480}"/>
</p:tagLst>
</file>

<file path=ppt/tags/tag82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83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84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85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86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87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88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89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0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1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2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3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4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5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6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7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8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99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0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1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2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3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4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5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6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7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8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09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10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ags/tag111.xml><?xml version="1.0" encoding="utf-8"?>
<p:tagLst xmlns:p="http://schemas.openxmlformats.org/presentationml/2006/main">
  <p:tag name="KSO_WM_DIAGRAM_VIRTUALLY_FRAME" val="{&quot;height&quot;:310,&quot;left&quot;:60,&quot;top&quot;:190,&quot;width&quot;:8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3751</Words>
  <Application>WPS 演示</Application>
  <PresentationFormat/>
  <Paragraphs>291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Noto Sans SC Light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Rockin' Justin</cp:lastModifiedBy>
  <cp:revision>51</cp:revision>
  <dcterms:created xsi:type="dcterms:W3CDTF">2026-05-09T02:41:00Z</dcterms:created>
  <dcterms:modified xsi:type="dcterms:W3CDTF">2026-06-12T09:37:02Z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2B9831C0D1564E818DFF0F362FDF9569_12</vt:lpwstr>
  </property>
  <property fmtid="{D5CDD505-2E9C-101B-9397-08002B2CF9AE}" pid="3" name="KSOProductBuildVer">
    <vt:lpwstr>2052-12.1.0.26375</vt:lpwstr>
  </property>
</Properties>
</file>